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7" r:id="rId2"/>
    <p:sldId id="258" r:id="rId3"/>
    <p:sldId id="261" r:id="rId4"/>
    <p:sldId id="259" r:id="rId5"/>
    <p:sldId id="260" r:id="rId6"/>
    <p:sldId id="265" r:id="rId7"/>
    <p:sldId id="263" r:id="rId8"/>
    <p:sldId id="264" r:id="rId9"/>
    <p:sldId id="266"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59D39D-1AC4-4F45-8DC3-C5FA5A5F5629}" type="datetimeFigureOut">
              <a:rPr lang="en-US" smtClean="0"/>
              <a:pPr/>
              <a:t>12/18/2025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6C5D9E-49B0-41B9-A122-FF939DF167F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03C2A513-DDE5-D046-4F32-37A7D0D531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2A049453-012A-D839-7245-17EC0DBB33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4" name="Slide Number Placeholder 3">
            <a:extLst>
              <a:ext uri="{FF2B5EF4-FFF2-40B4-BE49-F238E27FC236}">
                <a16:creationId xmlns:a16="http://schemas.microsoft.com/office/drawing/2014/main" id="{6FC750CC-AE3C-40D7-15BB-7B28CFED310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29057" indent="-280406">
              <a:defRPr>
                <a:solidFill>
                  <a:schemeClr val="tx1"/>
                </a:solidFill>
                <a:latin typeface="Calibri" panose="020F0502020204030204" pitchFamily="34" charset="0"/>
              </a:defRPr>
            </a:lvl2pPr>
            <a:lvl3pPr marL="1121626" indent="-224325">
              <a:defRPr>
                <a:solidFill>
                  <a:schemeClr val="tx1"/>
                </a:solidFill>
                <a:latin typeface="Calibri" panose="020F0502020204030204" pitchFamily="34" charset="0"/>
              </a:defRPr>
            </a:lvl3pPr>
            <a:lvl4pPr marL="1570276" indent="-224325">
              <a:defRPr>
                <a:solidFill>
                  <a:schemeClr val="tx1"/>
                </a:solidFill>
                <a:latin typeface="Calibri" panose="020F0502020204030204" pitchFamily="34" charset="0"/>
              </a:defRPr>
            </a:lvl4pPr>
            <a:lvl5pPr marL="2018927" indent="-224325">
              <a:defRPr>
                <a:solidFill>
                  <a:schemeClr val="tx1"/>
                </a:solidFill>
                <a:latin typeface="Calibri" panose="020F0502020204030204" pitchFamily="34" charset="0"/>
              </a:defRPr>
            </a:lvl5pPr>
            <a:lvl6pPr marL="2467577" indent="-224325" eaLnBrk="0" fontAlgn="base" hangingPunct="0">
              <a:spcBef>
                <a:spcPct val="0"/>
              </a:spcBef>
              <a:spcAft>
                <a:spcPct val="0"/>
              </a:spcAft>
              <a:defRPr>
                <a:solidFill>
                  <a:schemeClr val="tx1"/>
                </a:solidFill>
                <a:latin typeface="Calibri" panose="020F0502020204030204" pitchFamily="34" charset="0"/>
              </a:defRPr>
            </a:lvl6pPr>
            <a:lvl7pPr marL="2916227" indent="-224325" eaLnBrk="0" fontAlgn="base" hangingPunct="0">
              <a:spcBef>
                <a:spcPct val="0"/>
              </a:spcBef>
              <a:spcAft>
                <a:spcPct val="0"/>
              </a:spcAft>
              <a:defRPr>
                <a:solidFill>
                  <a:schemeClr val="tx1"/>
                </a:solidFill>
                <a:latin typeface="Calibri" panose="020F0502020204030204" pitchFamily="34" charset="0"/>
              </a:defRPr>
            </a:lvl7pPr>
            <a:lvl8pPr marL="3364878" indent="-224325" eaLnBrk="0" fontAlgn="base" hangingPunct="0">
              <a:spcBef>
                <a:spcPct val="0"/>
              </a:spcBef>
              <a:spcAft>
                <a:spcPct val="0"/>
              </a:spcAft>
              <a:defRPr>
                <a:solidFill>
                  <a:schemeClr val="tx1"/>
                </a:solidFill>
                <a:latin typeface="Calibri" panose="020F0502020204030204" pitchFamily="34" charset="0"/>
              </a:defRPr>
            </a:lvl8pPr>
            <a:lvl9pPr marL="3813528" indent="-224325" eaLnBrk="0" fontAlgn="base" hangingPunct="0">
              <a:spcBef>
                <a:spcPct val="0"/>
              </a:spcBef>
              <a:spcAft>
                <a:spcPct val="0"/>
              </a:spcAft>
              <a:defRPr>
                <a:solidFill>
                  <a:schemeClr val="tx1"/>
                </a:solidFill>
                <a:latin typeface="Calibri" panose="020F0502020204030204" pitchFamily="34" charset="0"/>
              </a:defRPr>
            </a:lvl9pPr>
          </a:lstStyle>
          <a:p>
            <a:fld id="{81AE3ECF-3CC2-4A58-93F8-B0B83C99F0E7}" type="slidenum">
              <a:rPr lang="en-US" altLang="en-US"/>
              <a:pPr/>
              <a:t>1</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F21231-7705-4698-8DFD-87C809EBBFA3}"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44340C-E8EE-413A-851F-BC14B924CB3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F21231-7705-4698-8DFD-87C809EBBFA3}" type="datetimeFigureOut">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44340C-E8EE-413A-851F-BC14B924CB3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Slide Number Placeholder 2">
            <a:extLst>
              <a:ext uri="{FF2B5EF4-FFF2-40B4-BE49-F238E27FC236}">
                <a16:creationId xmlns:a16="http://schemas.microsoft.com/office/drawing/2014/main" id="{A79E9922-7015-0CC6-C5EB-D29B6439D1F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3ABA39C-F260-41BB-9C62-9CE6D0D44B44}" type="slidenum">
              <a:rPr lang="en-US" altLang="en-US" sz="1200">
                <a:solidFill>
                  <a:srgbClr val="898989"/>
                </a:solidFill>
              </a:rPr>
              <a:pPr>
                <a:spcBef>
                  <a:spcPct val="0"/>
                </a:spcBef>
                <a:buFontTx/>
                <a:buNone/>
              </a:pPr>
              <a:t>1</a:t>
            </a:fld>
            <a:endParaRPr lang="en-US" altLang="en-US" sz="1200">
              <a:solidFill>
                <a:srgbClr val="898989"/>
              </a:solidFill>
            </a:endParaRPr>
          </a:p>
        </p:txBody>
      </p:sp>
      <p:sp>
        <p:nvSpPr>
          <p:cNvPr id="4" name="Title 3">
            <a:extLst>
              <a:ext uri="{FF2B5EF4-FFF2-40B4-BE49-F238E27FC236}">
                <a16:creationId xmlns:a16="http://schemas.microsoft.com/office/drawing/2014/main" id="{1D9A01C5-255D-6077-C63E-BD66ABB36466}"/>
              </a:ext>
            </a:extLst>
          </p:cNvPr>
          <p:cNvSpPr>
            <a:spLocks noGrp="1"/>
          </p:cNvSpPr>
          <p:nvPr>
            <p:ph type="ctrTitle" idx="4294967295"/>
          </p:nvPr>
        </p:nvSpPr>
        <p:spPr>
          <a:xfrm>
            <a:off x="914400" y="2571750"/>
            <a:ext cx="7772400" cy="1470025"/>
          </a:xfrm>
        </p:spPr>
        <p:txBody>
          <a:bodyPr rtlCol="0">
            <a:noAutofit/>
          </a:bodyPr>
          <a:lstStyle/>
          <a:p>
            <a:pPr>
              <a:defRPr/>
            </a:pPr>
            <a:r>
              <a:rPr lang="en-US" sz="2800" b="1" dirty="0">
                <a:solidFill>
                  <a:schemeClr val="bg2">
                    <a:lumMod val="10000"/>
                  </a:schemeClr>
                </a:solidFill>
                <a:latin typeface="Bookman Old Style" pitchFamily="18" charset="0"/>
              </a:rPr>
              <a:t>City Genie</a:t>
            </a:r>
            <a:br>
              <a:rPr lang="en-US" sz="2800" b="1" dirty="0">
                <a:solidFill>
                  <a:schemeClr val="bg2">
                    <a:lumMod val="10000"/>
                  </a:schemeClr>
                </a:solidFill>
                <a:latin typeface="Bookman Old Style" pitchFamily="18" charset="0"/>
              </a:rPr>
            </a:br>
            <a:endParaRPr lang="en-US" sz="2800" dirty="0">
              <a:solidFill>
                <a:schemeClr val="bg2">
                  <a:lumMod val="10000"/>
                </a:schemeClr>
              </a:solidFill>
              <a:latin typeface="Bookman Old Style" pitchFamily="18" charset="0"/>
            </a:endParaRPr>
          </a:p>
        </p:txBody>
      </p:sp>
      <p:sp>
        <p:nvSpPr>
          <p:cNvPr id="7" name="Subtitle 6">
            <a:extLst>
              <a:ext uri="{FF2B5EF4-FFF2-40B4-BE49-F238E27FC236}">
                <a16:creationId xmlns:a16="http://schemas.microsoft.com/office/drawing/2014/main" id="{C57E60E0-CB6C-39F5-8AE8-23D6DBFC5ED3}"/>
              </a:ext>
            </a:extLst>
          </p:cNvPr>
          <p:cNvSpPr>
            <a:spLocks noGrp="1"/>
          </p:cNvSpPr>
          <p:nvPr>
            <p:ph type="subTitle" idx="4294967295"/>
          </p:nvPr>
        </p:nvSpPr>
        <p:spPr>
          <a:xfrm>
            <a:off x="827584" y="3699694"/>
            <a:ext cx="7554416" cy="2656656"/>
          </a:xfrm>
        </p:spPr>
        <p:txBody>
          <a:bodyPr rtlCol="0">
            <a:normAutofit fontScale="62500" lnSpcReduction="20000"/>
          </a:bodyPr>
          <a:lstStyle/>
          <a:p>
            <a:pPr marL="0" indent="0" algn="ctr" eaLnBrk="1" fontAlgn="auto" hangingPunct="1">
              <a:spcAft>
                <a:spcPts val="0"/>
              </a:spcAft>
              <a:buNone/>
              <a:defRPr/>
            </a:pPr>
            <a:r>
              <a:rPr lang="en-US" sz="4400" b="1" dirty="0">
                <a:solidFill>
                  <a:schemeClr val="bg2">
                    <a:lumMod val="25000"/>
                  </a:schemeClr>
                </a:solidFill>
              </a:rPr>
              <a:t>Group – 16</a:t>
            </a:r>
          </a:p>
          <a:p>
            <a:pPr marL="0" indent="0" algn="r">
              <a:buNone/>
              <a:defRPr/>
            </a:pPr>
            <a:r>
              <a:rPr lang="en-US" sz="4400" b="1" dirty="0">
                <a:solidFill>
                  <a:schemeClr val="accent3">
                    <a:lumMod val="50000"/>
                  </a:schemeClr>
                </a:solidFill>
              </a:rPr>
              <a:t>Team Members: </a:t>
            </a:r>
          </a:p>
          <a:p>
            <a:pPr marL="0" indent="0" algn="r">
              <a:buNone/>
              <a:defRPr/>
            </a:pPr>
            <a:r>
              <a:rPr lang="en-US" sz="3700" i="1" dirty="0">
                <a:solidFill>
                  <a:schemeClr val="accent2">
                    <a:lumMod val="75000"/>
                  </a:schemeClr>
                </a:solidFill>
              </a:rPr>
              <a:t>Sameeksha - 23VE1A6642</a:t>
            </a:r>
          </a:p>
          <a:p>
            <a:pPr marL="0" indent="0" algn="r" eaLnBrk="1" fontAlgn="auto" hangingPunct="1">
              <a:spcAft>
                <a:spcPts val="0"/>
              </a:spcAft>
              <a:buNone/>
              <a:defRPr/>
            </a:pPr>
            <a:r>
              <a:rPr lang="en-US" sz="3700" i="1" dirty="0">
                <a:solidFill>
                  <a:schemeClr val="accent2">
                    <a:lumMod val="75000"/>
                  </a:schemeClr>
                </a:solidFill>
              </a:rPr>
              <a:t>      Yashwitha - 23VE1A6637</a:t>
            </a:r>
          </a:p>
          <a:p>
            <a:pPr marL="0" indent="0" algn="r" eaLnBrk="1" fontAlgn="auto" hangingPunct="1">
              <a:spcAft>
                <a:spcPts val="0"/>
              </a:spcAft>
              <a:buNone/>
              <a:defRPr/>
            </a:pPr>
            <a:r>
              <a:rPr lang="en-US" sz="3700" i="1" dirty="0">
                <a:solidFill>
                  <a:schemeClr val="accent2">
                    <a:lumMod val="75000"/>
                  </a:schemeClr>
                </a:solidFill>
              </a:rPr>
              <a:t>          Pravalika  - 23VE1A6639</a:t>
            </a:r>
          </a:p>
          <a:p>
            <a:pPr marL="0" indent="0" algn="r" eaLnBrk="1" fontAlgn="auto" hangingPunct="1">
              <a:spcAft>
                <a:spcPts val="0"/>
              </a:spcAft>
              <a:buNone/>
              <a:defRPr/>
            </a:pPr>
            <a:r>
              <a:rPr lang="en-US" sz="3700" i="1" dirty="0">
                <a:solidFill>
                  <a:schemeClr val="accent2">
                    <a:lumMod val="75000"/>
                  </a:schemeClr>
                </a:solidFill>
              </a:rPr>
              <a:t>Siri  - 23VE1A6618</a:t>
            </a:r>
          </a:p>
          <a:p>
            <a:pPr marL="0" indent="0" algn="r" eaLnBrk="1" fontAlgn="auto" hangingPunct="1">
              <a:spcAft>
                <a:spcPts val="0"/>
              </a:spcAft>
              <a:buNone/>
              <a:defRPr/>
            </a:pPr>
            <a:r>
              <a:rPr lang="en-US" sz="3700" i="1" dirty="0">
                <a:solidFill>
                  <a:schemeClr val="accent2">
                    <a:lumMod val="75000"/>
                  </a:schemeClr>
                </a:solidFill>
              </a:rPr>
              <a:t>        Sreehitha  - 23VE1A6616</a:t>
            </a:r>
          </a:p>
          <a:p>
            <a:pPr algn="r" eaLnBrk="1" fontAlgn="auto" hangingPunct="1">
              <a:spcAft>
                <a:spcPts val="0"/>
              </a:spcAft>
              <a:defRPr/>
            </a:pPr>
            <a:endParaRPr lang="en-US" sz="8000" i="1" dirty="0">
              <a:solidFill>
                <a:schemeClr val="accent2">
                  <a:lumMod val="75000"/>
                </a:schemeClr>
              </a:solidFill>
            </a:endParaRPr>
          </a:p>
          <a:p>
            <a:pPr algn="r" eaLnBrk="1" fontAlgn="auto" hangingPunct="1">
              <a:spcAft>
                <a:spcPts val="0"/>
              </a:spcAft>
              <a:defRPr/>
            </a:pPr>
            <a:endParaRPr lang="en-US" sz="2600" i="1" dirty="0">
              <a:solidFill>
                <a:schemeClr val="accent2">
                  <a:lumMod val="75000"/>
                </a:schemeClr>
              </a:solidFill>
            </a:endParaRPr>
          </a:p>
        </p:txBody>
      </p:sp>
      <p:sp>
        <p:nvSpPr>
          <p:cNvPr id="8" name="Title 3">
            <a:extLst>
              <a:ext uri="{FF2B5EF4-FFF2-40B4-BE49-F238E27FC236}">
                <a16:creationId xmlns:a16="http://schemas.microsoft.com/office/drawing/2014/main" id="{29324CDD-2C72-B817-0C4E-6CF7A348BCE4}"/>
              </a:ext>
            </a:extLst>
          </p:cNvPr>
          <p:cNvSpPr txBox="1">
            <a:spLocks/>
          </p:cNvSpPr>
          <p:nvPr/>
        </p:nvSpPr>
        <p:spPr>
          <a:xfrm>
            <a:off x="-1" y="1054100"/>
            <a:ext cx="9144001" cy="1470025"/>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endParaRPr lang="en-US" sz="2400" b="1" dirty="0">
              <a:solidFill>
                <a:srgbClr val="C00000"/>
              </a:solidFill>
              <a:latin typeface="Bookman Old Style" pitchFamily="18" charset="0"/>
            </a:endParaRPr>
          </a:p>
          <a:p>
            <a:pPr fontAlgn="auto">
              <a:spcAft>
                <a:spcPts val="0"/>
              </a:spcAft>
              <a:defRPr/>
            </a:pPr>
            <a:r>
              <a:rPr lang="en-US" sz="2400" b="1" dirty="0">
                <a:solidFill>
                  <a:schemeClr val="tx2">
                    <a:lumMod val="60000"/>
                    <a:lumOff val="40000"/>
                  </a:schemeClr>
                </a:solidFill>
                <a:latin typeface="Bookman Old Style" pitchFamily="18" charset="0"/>
              </a:rPr>
              <a:t>SREYAS INSTITUTE OF ENGINEERING &amp; TECHNOLOGY</a:t>
            </a:r>
          </a:p>
          <a:p>
            <a:pPr fontAlgn="auto">
              <a:spcAft>
                <a:spcPts val="0"/>
              </a:spcAft>
              <a:defRPr/>
            </a:pPr>
            <a:r>
              <a:rPr lang="en-US" sz="2400" b="1" dirty="0">
                <a:solidFill>
                  <a:srgbClr val="C00000"/>
                </a:solidFill>
                <a:latin typeface="Bookman Old Style" pitchFamily="18" charset="0"/>
              </a:rPr>
              <a:t>(AUTONOMUS)</a:t>
            </a:r>
          </a:p>
          <a:p>
            <a:pPr fontAlgn="auto">
              <a:spcAft>
                <a:spcPts val="0"/>
              </a:spcAft>
              <a:defRPr/>
            </a:pPr>
            <a:r>
              <a:rPr lang="en-US" sz="1000" dirty="0"/>
              <a:t>(Approved by </a:t>
            </a:r>
            <a:r>
              <a:rPr lang="en-US" sz="1000" dirty="0" err="1"/>
              <a:t>A.I.C.T.E.,New</a:t>
            </a:r>
            <a:r>
              <a:rPr lang="en-US" sz="1000" dirty="0"/>
              <a:t> Delhi., Affiliated to JNTUH Hyderabad, Accredited by NAAC ‘A’ Grade &amp; NBA)</a:t>
            </a:r>
            <a:endParaRPr lang="en-US" sz="2400" b="1" dirty="0">
              <a:solidFill>
                <a:srgbClr val="C00000"/>
              </a:solidFill>
              <a:latin typeface="Bookman Old Style" pitchFamily="18" charset="0"/>
            </a:endParaRPr>
          </a:p>
          <a:p>
            <a:pPr fontAlgn="auto">
              <a:spcAft>
                <a:spcPts val="0"/>
              </a:spcAft>
              <a:defRPr/>
            </a:pPr>
            <a:r>
              <a:rPr lang="en-US" sz="1800" b="1" dirty="0">
                <a:solidFill>
                  <a:schemeClr val="accent4">
                    <a:lumMod val="75000"/>
                  </a:schemeClr>
                </a:solidFill>
                <a:latin typeface="Bookman Old Style" pitchFamily="18" charset="0"/>
              </a:rPr>
              <a:t>DEPARTMENT OF COMPUTER SCIENCE ENGINEERING(AI&amp;ML)</a:t>
            </a:r>
            <a:br>
              <a:rPr lang="en-US" sz="2400" b="1" dirty="0">
                <a:solidFill>
                  <a:schemeClr val="accent4">
                    <a:lumMod val="75000"/>
                  </a:schemeClr>
                </a:solidFill>
                <a:latin typeface="Bookman Old Style" pitchFamily="18" charset="0"/>
              </a:rPr>
            </a:br>
            <a:endParaRPr lang="en-US" sz="2400" b="1" dirty="0">
              <a:solidFill>
                <a:schemeClr val="accent4">
                  <a:lumMod val="75000"/>
                </a:schemeClr>
              </a:solidFill>
              <a:latin typeface="Bookman Old Style" pitchFamily="18" charset="0"/>
            </a:endParaRPr>
          </a:p>
        </p:txBody>
      </p:sp>
      <p:pic>
        <p:nvPicPr>
          <p:cNvPr id="4105" name="Picture 0" descr="LOGO.jpg">
            <a:extLst>
              <a:ext uri="{FF2B5EF4-FFF2-40B4-BE49-F238E27FC236}">
                <a16:creationId xmlns:a16="http://schemas.microsoft.com/office/drawing/2014/main" id="{3491EA16-516F-7CE4-0691-95B95E2178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7620" y="428604"/>
            <a:ext cx="981075"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076750E-2576-0F36-45C8-61653D663F2A}"/>
              </a:ext>
            </a:extLst>
          </p:cNvPr>
          <p:cNvSpPr txBox="1"/>
          <p:nvPr/>
        </p:nvSpPr>
        <p:spPr>
          <a:xfrm>
            <a:off x="467544" y="332656"/>
            <a:ext cx="8219255" cy="1815882"/>
          </a:xfrm>
          <a:prstGeom prst="rect">
            <a:avLst/>
          </a:prstGeom>
          <a:noFill/>
        </p:spPr>
        <p:txBody>
          <a:bodyPr wrap="square">
            <a:spAutoFit/>
          </a:bodyPr>
          <a:lstStyle/>
          <a:p>
            <a:r>
              <a:rPr lang="en-US" sz="3200" b="1" dirty="0">
                <a:solidFill>
                  <a:schemeClr val="accent2">
                    <a:lumMod val="75000"/>
                  </a:schemeClr>
                </a:solidFill>
              </a:rPr>
              <a:t>Problem Statement:</a:t>
            </a:r>
            <a:endParaRPr lang="en-US" sz="3200" dirty="0"/>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City Genie is a futuristic, interactive web platform where citizens can report city hazards like potholes, blockages, missing streetlights, and open bore wells through an interactive map. The system also integrates smart bike helmet sensors, ensuring bikes only start when riders wear helmets</a:t>
            </a:r>
          </a:p>
        </p:txBody>
      </p:sp>
      <p:pic>
        <p:nvPicPr>
          <p:cNvPr id="3" name="Picture 2">
            <a:extLst>
              <a:ext uri="{FF2B5EF4-FFF2-40B4-BE49-F238E27FC236}">
                <a16:creationId xmlns:a16="http://schemas.microsoft.com/office/drawing/2014/main" id="{B9807BEA-C701-D31B-9A98-5B0C6012DF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1930" y="2372983"/>
            <a:ext cx="6640139" cy="4152361"/>
          </a:xfrm>
          <a:prstGeom prst="rect">
            <a:avLst/>
          </a:prstGeom>
        </p:spPr>
      </p:pic>
    </p:spTree>
    <p:extLst>
      <p:ext uri="{BB962C8B-B14F-4D97-AF65-F5344CB8AC3E}">
        <p14:creationId xmlns:p14="http://schemas.microsoft.com/office/powerpoint/2010/main" val="3645237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0029679-584F-1558-8A32-A74783FE4C05}"/>
              </a:ext>
            </a:extLst>
          </p:cNvPr>
          <p:cNvSpPr txBox="1">
            <a:spLocks/>
          </p:cNvSpPr>
          <p:nvPr/>
        </p:nvSpPr>
        <p:spPr>
          <a:xfrm>
            <a:off x="323528" y="202332"/>
            <a:ext cx="4772438" cy="6453336"/>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b="1" dirty="0">
                <a:solidFill>
                  <a:schemeClr val="accent2">
                    <a:lumMod val="75000"/>
                  </a:schemeClr>
                </a:solidFill>
              </a:rPr>
              <a:t>Introduction</a:t>
            </a:r>
          </a:p>
          <a:p>
            <a:endParaRPr lang="en-US" dirty="0"/>
          </a:p>
        </p:txBody>
      </p:sp>
      <p:sp>
        <p:nvSpPr>
          <p:cNvPr id="3" name="Rectangle 2">
            <a:extLst>
              <a:ext uri="{FF2B5EF4-FFF2-40B4-BE49-F238E27FC236}">
                <a16:creationId xmlns:a16="http://schemas.microsoft.com/office/drawing/2014/main" id="{C07B7839-6A25-5D3C-4B6C-C5857DBDCEDC}"/>
              </a:ext>
            </a:extLst>
          </p:cNvPr>
          <p:cNvSpPr>
            <a:spLocks noChangeArrowheads="1"/>
          </p:cNvSpPr>
          <p:nvPr/>
        </p:nvSpPr>
        <p:spPr bwMode="auto">
          <a:xfrm>
            <a:off x="299528" y="738369"/>
            <a:ext cx="4772438"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citizens to easily report city hazards like potholes, blockages, missing streetlights, and open bore wells.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prevent accidents and loss of life by identifying issues early.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Promotes faster response and efficient action from municipal authorities.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Improves road safety through smart bike helmet sensors that ensure helmet compliance.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Reduces severe injuries and fatalities caused by road accidents.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Encourages active citizen participation in city development</a:t>
            </a:r>
            <a:r>
              <a:rPr kumimoji="0" lang="en-US" altLang="en-US" sz="2300" b="0" i="0" u="none" strike="noStrike" cap="none" normalizeH="0" baseline="0" dirty="0">
                <a:ln>
                  <a:noFill/>
                </a:ln>
                <a:solidFill>
                  <a:schemeClr val="tx1"/>
                </a:solidFill>
                <a:effectLst/>
                <a:latin typeface="Arial" panose="020B0604020202020204" pitchFamily="34" charset="0"/>
              </a:rPr>
              <a:t>.</a:t>
            </a:r>
          </a:p>
        </p:txBody>
      </p:sp>
      <p:pic>
        <p:nvPicPr>
          <p:cNvPr id="7" name="Picture 6">
            <a:extLst>
              <a:ext uri="{FF2B5EF4-FFF2-40B4-BE49-F238E27FC236}">
                <a16:creationId xmlns:a16="http://schemas.microsoft.com/office/drawing/2014/main" id="{D6E080C8-4709-D554-93D1-9651579016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2040" y="289112"/>
            <a:ext cx="4094809" cy="6279775"/>
          </a:xfrm>
          <a:prstGeom prst="rect">
            <a:avLst/>
          </a:prstGeom>
        </p:spPr>
      </p:pic>
    </p:spTree>
    <p:extLst>
      <p:ext uri="{BB962C8B-B14F-4D97-AF65-F5344CB8AC3E}">
        <p14:creationId xmlns:p14="http://schemas.microsoft.com/office/powerpoint/2010/main" val="3736561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8CB9DA-4554-AA22-3929-DE1FC927EBD5}"/>
              </a:ext>
            </a:extLst>
          </p:cNvPr>
          <p:cNvSpPr txBox="1"/>
          <p:nvPr/>
        </p:nvSpPr>
        <p:spPr>
          <a:xfrm>
            <a:off x="467544" y="260648"/>
            <a:ext cx="5688632" cy="861774"/>
          </a:xfrm>
          <a:prstGeom prst="rect">
            <a:avLst/>
          </a:prstGeom>
          <a:noFill/>
        </p:spPr>
        <p:txBody>
          <a:bodyPr wrap="square">
            <a:spAutoFit/>
          </a:bodyPr>
          <a:lstStyle/>
          <a:p>
            <a:r>
              <a:rPr lang="en-IN" sz="3200" b="1" dirty="0">
                <a:solidFill>
                  <a:schemeClr val="accent2">
                    <a:lumMod val="75000"/>
                  </a:schemeClr>
                </a:solidFill>
                <a:latin typeface="+mj-lt"/>
              </a:rPr>
              <a:t>Objectives:</a:t>
            </a:r>
          </a:p>
          <a:p>
            <a:endParaRPr lang="en-IN" dirty="0"/>
          </a:p>
        </p:txBody>
      </p:sp>
      <p:sp>
        <p:nvSpPr>
          <p:cNvPr id="2" name="Rectangle 1">
            <a:extLst>
              <a:ext uri="{FF2B5EF4-FFF2-40B4-BE49-F238E27FC236}">
                <a16:creationId xmlns:a16="http://schemas.microsoft.com/office/drawing/2014/main" id="{EBE2F2BA-C509-AE3E-E88A-E1FE940BD931}"/>
              </a:ext>
            </a:extLst>
          </p:cNvPr>
          <p:cNvSpPr>
            <a:spLocks noChangeArrowheads="1"/>
          </p:cNvSpPr>
          <p:nvPr/>
        </p:nvSpPr>
        <p:spPr bwMode="auto">
          <a:xfrm>
            <a:off x="277840" y="1113711"/>
            <a:ext cx="568863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 user-friendly platform for citizens to report urban hazards through an interactive map.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ensure timely identification and resolution of city infrastructure issues.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improve public safety by reducing accidents caused by road and environmental hazards.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promote road safety by integrating smart helmet sensors with bike ignition systems.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enforce helmet usage and reduce injuries and fatalities in road accidents.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encourage active citizen participation in urban governance</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pic>
        <p:nvPicPr>
          <p:cNvPr id="2051" name="Picture 3" descr="Hazard Potholes Stock Illustrations – 100 Hazard Potholes Stock  Illustrations, Vectors &amp; Clipart - Dreamstime">
            <a:extLst>
              <a:ext uri="{FF2B5EF4-FFF2-40B4-BE49-F238E27FC236}">
                <a16:creationId xmlns:a16="http://schemas.microsoft.com/office/drawing/2014/main" id="{546B7BBD-3F34-326F-5364-226B1163B8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9192" y="754023"/>
            <a:ext cx="3096344"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9480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4DD510-B9FA-9241-0A71-AFB8D5CFD439}"/>
              </a:ext>
            </a:extLst>
          </p:cNvPr>
          <p:cNvSpPr txBox="1"/>
          <p:nvPr/>
        </p:nvSpPr>
        <p:spPr>
          <a:xfrm>
            <a:off x="323528" y="332656"/>
            <a:ext cx="8208912" cy="1200329"/>
          </a:xfrm>
          <a:prstGeom prst="rect">
            <a:avLst/>
          </a:prstGeom>
          <a:noFill/>
        </p:spPr>
        <p:txBody>
          <a:bodyPr wrap="square">
            <a:spAutoFit/>
          </a:bodyPr>
          <a:lstStyle/>
          <a:p>
            <a:r>
              <a:rPr lang="en-IN" sz="3200" b="1" dirty="0">
                <a:solidFill>
                  <a:schemeClr val="accent2">
                    <a:lumMod val="75000"/>
                  </a:schemeClr>
                </a:solidFill>
              </a:rPr>
              <a:t>Key Features</a:t>
            </a:r>
          </a:p>
          <a:p>
            <a:endParaRPr lang="en-IN" sz="2000" b="1" dirty="0">
              <a:solidFill>
                <a:schemeClr val="accent2">
                  <a:lumMod val="75000"/>
                </a:schemeClr>
              </a:solidFill>
            </a:endParaRPr>
          </a:p>
          <a:p>
            <a:endParaRPr lang="en-IN" sz="2000" dirty="0"/>
          </a:p>
        </p:txBody>
      </p:sp>
      <p:sp>
        <p:nvSpPr>
          <p:cNvPr id="2" name="Rectangle 1">
            <a:extLst>
              <a:ext uri="{FF2B5EF4-FFF2-40B4-BE49-F238E27FC236}">
                <a16:creationId xmlns:a16="http://schemas.microsoft.com/office/drawing/2014/main" id="{2C7CA685-8F9C-D5C7-874E-F7C1C511CC57}"/>
              </a:ext>
            </a:extLst>
          </p:cNvPr>
          <p:cNvSpPr>
            <a:spLocks noChangeArrowheads="1"/>
          </p:cNvSpPr>
          <p:nvPr/>
        </p:nvSpPr>
        <p:spPr bwMode="auto">
          <a:xfrm>
            <a:off x="294992" y="1117486"/>
            <a:ext cx="4824536"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2400"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Interactive map-based hazard reporting</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issue tracking and updates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Smart helmet sensor integration</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Secure and user-friendly interface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collection for analytics and planning</a:t>
            </a:r>
          </a:p>
        </p:txBody>
      </p:sp>
      <p:pic>
        <p:nvPicPr>
          <p:cNvPr id="3075" name="Picture 3">
            <a:extLst>
              <a:ext uri="{FF2B5EF4-FFF2-40B4-BE49-F238E27FC236}">
                <a16:creationId xmlns:a16="http://schemas.microsoft.com/office/drawing/2014/main" id="{797EA0FA-1D81-04D1-A156-175106325B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0616" y="213736"/>
            <a:ext cx="3528392" cy="6304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1576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E56CD3-C3BE-3BB5-31A0-A069C43450DA}"/>
              </a:ext>
            </a:extLst>
          </p:cNvPr>
          <p:cNvSpPr txBox="1"/>
          <p:nvPr/>
        </p:nvSpPr>
        <p:spPr>
          <a:xfrm>
            <a:off x="337796" y="404664"/>
            <a:ext cx="4104456" cy="1200329"/>
          </a:xfrm>
          <a:prstGeom prst="rect">
            <a:avLst/>
          </a:prstGeom>
          <a:noFill/>
        </p:spPr>
        <p:txBody>
          <a:bodyPr wrap="square">
            <a:spAutoFit/>
          </a:bodyPr>
          <a:lstStyle/>
          <a:p>
            <a:r>
              <a:rPr lang="en-IN" sz="3600" b="1" dirty="0">
                <a:solidFill>
                  <a:schemeClr val="accent2">
                    <a:lumMod val="75000"/>
                  </a:schemeClr>
                </a:solidFill>
              </a:rPr>
              <a:t>Solution</a:t>
            </a:r>
          </a:p>
          <a:p>
            <a:endParaRPr lang="en-IN" sz="3600" b="1" dirty="0">
              <a:solidFill>
                <a:schemeClr val="accent2">
                  <a:lumMod val="75000"/>
                </a:schemeClr>
              </a:solidFill>
            </a:endParaRPr>
          </a:p>
        </p:txBody>
      </p:sp>
      <p:sp>
        <p:nvSpPr>
          <p:cNvPr id="2" name="Rectangle 1">
            <a:extLst>
              <a:ext uri="{FF2B5EF4-FFF2-40B4-BE49-F238E27FC236}">
                <a16:creationId xmlns:a16="http://schemas.microsoft.com/office/drawing/2014/main" id="{6A7F7002-5E5A-B1DA-D361-202340BC9B18}"/>
              </a:ext>
            </a:extLst>
          </p:cNvPr>
          <p:cNvSpPr>
            <a:spLocks noChangeArrowheads="1"/>
          </p:cNvSpPr>
          <p:nvPr/>
        </p:nvSpPr>
        <p:spPr bwMode="auto">
          <a:xfrm>
            <a:off x="179512" y="873541"/>
            <a:ext cx="4104456"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an interactive map for citizens to report city hazards like potholes, blockages, missing streetlights, and open bore wells.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real-time tracking and updates for reported issues, helping authorities act quickly.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Integrates smart helmet sensors with bikes to enforce helmet usage before ignition.</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Promotes road safety by reducing accidents caused by non-compliance with helmet laws.</a:t>
            </a:r>
          </a:p>
          <a:p>
            <a:pPr marL="0" marR="0" lvl="0" indent="0" defTabSz="914400" rtl="0" eaLnBrk="0" fontAlgn="base" latinLnBrk="0" hangingPunct="0">
              <a:lnSpc>
                <a:spcPct val="100000"/>
              </a:lnSpc>
              <a:spcBef>
                <a:spcPct val="0"/>
              </a:spcBef>
              <a:spcAft>
                <a:spcPct val="0"/>
              </a:spcAft>
              <a:buClrTx/>
              <a:buSzTx/>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099" name="Picture 3" descr="240+ Pothole Road Stock Illustrations, Royalty-Free Vector Graphics &amp; Clip  Art - iStock">
            <a:extLst>
              <a:ext uri="{FF2B5EF4-FFF2-40B4-BE49-F238E27FC236}">
                <a16:creationId xmlns:a16="http://schemas.microsoft.com/office/drawing/2014/main" id="{29238559-F40F-FB9A-D31E-E21F4648A0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0536" y="1844824"/>
            <a:ext cx="4104454" cy="263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873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0A0105-F382-D01D-36E2-01F4BF9BA2A6}"/>
              </a:ext>
            </a:extLst>
          </p:cNvPr>
          <p:cNvSpPr txBox="1"/>
          <p:nvPr/>
        </p:nvSpPr>
        <p:spPr>
          <a:xfrm>
            <a:off x="323528" y="251851"/>
            <a:ext cx="5184576" cy="1384995"/>
          </a:xfrm>
          <a:prstGeom prst="rect">
            <a:avLst/>
          </a:prstGeom>
          <a:noFill/>
        </p:spPr>
        <p:txBody>
          <a:bodyPr wrap="square">
            <a:spAutoFit/>
          </a:bodyPr>
          <a:lstStyle/>
          <a:p>
            <a:r>
              <a:rPr lang="en-IN" sz="3200" b="1" dirty="0">
                <a:solidFill>
                  <a:schemeClr val="accent2">
                    <a:lumMod val="75000"/>
                  </a:schemeClr>
                </a:solidFill>
              </a:rPr>
              <a:t>Advantages</a:t>
            </a:r>
          </a:p>
          <a:p>
            <a:endParaRPr lang="en-IN" sz="3200" b="1" dirty="0">
              <a:solidFill>
                <a:schemeClr val="accent2">
                  <a:lumMod val="75000"/>
                </a:schemeClr>
              </a:solidFill>
            </a:endParaRPr>
          </a:p>
          <a:p>
            <a:endParaRPr lang="en-IN" sz="2000" dirty="0"/>
          </a:p>
        </p:txBody>
      </p:sp>
      <p:sp>
        <p:nvSpPr>
          <p:cNvPr id="2" name="Rectangle 1">
            <a:extLst>
              <a:ext uri="{FF2B5EF4-FFF2-40B4-BE49-F238E27FC236}">
                <a16:creationId xmlns:a16="http://schemas.microsoft.com/office/drawing/2014/main" id="{4A4125EF-50C5-EE1A-D233-B4382C6C5F91}"/>
              </a:ext>
            </a:extLst>
          </p:cNvPr>
          <p:cNvSpPr>
            <a:spLocks noChangeArrowheads="1"/>
          </p:cNvSpPr>
          <p:nvPr/>
        </p:nvSpPr>
        <p:spPr bwMode="auto">
          <a:xfrm>
            <a:off x="212576" y="1225688"/>
            <a:ext cx="505208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Public Safety: Reduces accidents and injuries by reporting hazards and enforcing helmet usage.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Issue Resolution: Enables authorities to respond quickly to reported problems.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Encourages Citizen Participation: Empowers residents to contribute to city maintenance and governance.</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Road Safety: Smart helmet sensors ensure compliance, lowering accident risks.</a:t>
            </a:r>
          </a:p>
          <a:p>
            <a:pPr marL="0" marR="0" lvl="0" indent="0"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Data-Driven Decision Making: Collected reports help authorities prioritize and plan urban development.</a:t>
            </a:r>
          </a:p>
        </p:txBody>
      </p:sp>
      <p:pic>
        <p:nvPicPr>
          <p:cNvPr id="5123" name="Picture 3" descr="IoT and Road Safety: How Technology is Making Our Roads Safer ...">
            <a:extLst>
              <a:ext uri="{FF2B5EF4-FFF2-40B4-BE49-F238E27FC236}">
                <a16:creationId xmlns:a16="http://schemas.microsoft.com/office/drawing/2014/main" id="{054CCDB8-D055-FA0E-135A-2E6D6A0F74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1933" y="2249425"/>
            <a:ext cx="4194043" cy="2359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3405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738B1D-CCEA-22A0-8105-B632DC3AA25E}"/>
              </a:ext>
            </a:extLst>
          </p:cNvPr>
          <p:cNvSpPr txBox="1"/>
          <p:nvPr/>
        </p:nvSpPr>
        <p:spPr>
          <a:xfrm>
            <a:off x="467544" y="692696"/>
            <a:ext cx="7992888" cy="5170646"/>
          </a:xfrm>
          <a:prstGeom prst="rect">
            <a:avLst/>
          </a:prstGeom>
          <a:noFill/>
        </p:spPr>
        <p:txBody>
          <a:bodyPr wrap="square">
            <a:spAutoFit/>
          </a:bodyPr>
          <a:lstStyle/>
          <a:p>
            <a:r>
              <a:rPr lang="en-IN" sz="4000" b="1" dirty="0">
                <a:solidFill>
                  <a:schemeClr val="accent2">
                    <a:lumMod val="75000"/>
                  </a:schemeClr>
                </a:solidFill>
              </a:rPr>
              <a:t>Conclusion</a:t>
            </a:r>
          </a:p>
          <a:p>
            <a:endParaRPr lang="en-IN" sz="3200" b="1" dirty="0">
              <a:solidFill>
                <a:schemeClr val="accent2">
                  <a:lumMod val="75000"/>
                </a:schemeClr>
              </a:solidFill>
            </a:endParaRPr>
          </a:p>
          <a:p>
            <a:r>
              <a:rPr lang="en-US" sz="2400" dirty="0">
                <a:latin typeface="Times New Roman" panose="02020603050405020304" pitchFamily="18" charset="0"/>
                <a:cs typeface="Times New Roman" panose="02020603050405020304" pitchFamily="18" charset="0"/>
              </a:rPr>
              <a:t>City Genie is a comprehensive solution for building safer, smarter, and more responsive cities. By combining citizen-driven reporting with smart technology like helmet sensors, it ensures hazards are identified and addressed promptly while promoting road safety. The platform strengthens collaboration between residents and municipal authorities, improves transparency, and supports data-driven urban planning. Overall, City Genie empowers citizens, enhances public safety, and contributes to the development of sustainable, well-managed, and technologically advanced urban environments.</a:t>
            </a:r>
          </a:p>
          <a:p>
            <a:endParaRPr lang="en-IN" dirty="0"/>
          </a:p>
        </p:txBody>
      </p:sp>
    </p:spTree>
    <p:extLst>
      <p:ext uri="{BB962C8B-B14F-4D97-AF65-F5344CB8AC3E}">
        <p14:creationId xmlns:p14="http://schemas.microsoft.com/office/powerpoint/2010/main" val="1564770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AFC741-F6F7-ED0D-2851-B7A881E5AC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595437"/>
            <a:ext cx="7010400" cy="3667125"/>
          </a:xfrm>
          <a:prstGeom prst="rect">
            <a:avLst/>
          </a:prstGeom>
        </p:spPr>
      </p:pic>
    </p:spTree>
    <p:extLst>
      <p:ext uri="{BB962C8B-B14F-4D97-AF65-F5344CB8AC3E}">
        <p14:creationId xmlns:p14="http://schemas.microsoft.com/office/powerpoint/2010/main" val="2141833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TotalTime>
  <Words>554</Words>
  <Application>Microsoft Office PowerPoint</Application>
  <PresentationFormat>On-screen Show (4:3)</PresentationFormat>
  <Paragraphs>60</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Bookman Old Style</vt:lpstr>
      <vt:lpstr>Calibri</vt:lpstr>
      <vt:lpstr>Times New Roman</vt:lpstr>
      <vt:lpstr>Office Theme</vt:lpstr>
      <vt:lpstr>City Genie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 (Calibri (Headings) – 24 Size - Bold)</dc:title>
  <dc:creator>Sreyas</dc:creator>
  <cp:lastModifiedBy>eshaagarwal1228@outlook.com</cp:lastModifiedBy>
  <cp:revision>10</cp:revision>
  <dcterms:created xsi:type="dcterms:W3CDTF">2024-06-20T09:35:16Z</dcterms:created>
  <dcterms:modified xsi:type="dcterms:W3CDTF">2025-12-18T14:45:29Z</dcterms:modified>
</cp:coreProperties>
</file>